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76" r:id="rId7"/>
    <p:sldId id="267" r:id="rId8"/>
    <p:sldId id="268" r:id="rId9"/>
    <p:sldId id="275" r:id="rId10"/>
    <p:sldId id="272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1AB32-B5EC-4562-BE7C-CC628E81ACE6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C8A10-B13E-49E8-AC7E-83A60DF03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55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AC8A10-B13E-49E8-AC7E-83A60DF0375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20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FA229-EAA6-5634-6580-A9AD87350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05737-29F3-DB64-D9F0-70E9BDE6E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1A093-A4F5-6EE7-A07A-5FB58AC9D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2CA2-A16C-40CE-8559-63AA9345F6E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E98E3-6364-4730-D58A-9ED4CE6F6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EAB1E-C67F-BA6B-9F9C-8B58E41A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80E2-019B-4A84-A2CC-616DEB9D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848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3B047-9A2B-8D48-1721-9B95362ED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EC956-B74D-5739-819B-B2361E132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A68C0-87A2-D4BB-4F01-644CD2210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2CA2-A16C-40CE-8559-63AA9345F6E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3DE5-C612-0E1A-961C-0A7DA68AF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DC4FA-7457-0931-4CB8-EA044539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80E2-019B-4A84-A2CC-616DEB9D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93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6B47-9312-6CE0-5E0E-1D8366291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8DF55-47CD-BE38-DDBB-0EA081D4A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BFFAB-B972-795A-1ED1-F84D640FC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2CA2-A16C-40CE-8559-63AA9345F6E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69860-BA00-5E19-905F-0627EAB4E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C3AE0-A765-9609-83F8-BCA8FAE4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80E2-019B-4A84-A2CC-616DEB9D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728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5D831-D3B1-73C9-7860-8053AEEF7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5F541-E541-9DA7-7026-0E007CD44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FC15F-E5D2-BEA1-26F5-F488DE8B4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A3C35-68A5-B451-13B5-352CC6A6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2CA2-A16C-40CE-8559-63AA9345F6E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62EB9-24DF-1E0C-01C7-C1523E0F3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9EB5A-0690-EF1D-0264-F7F1482C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80E2-019B-4A84-A2CC-616DEB9D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78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67A2E-FE83-D93E-08D0-3E79D4FB5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FD6EB-C8D0-176C-0B34-C98384352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F4768-1338-2835-E99B-6C79F497F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BDC22C-D376-141E-B40A-16358CC4D3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DFA3A6-F566-F9E1-0607-43DE4699D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CDFDAE-8017-83CF-6AE0-62E798B0B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2CA2-A16C-40CE-8559-63AA9345F6E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606AA-62F7-4995-FDAE-CB7533A37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52B456-3BE5-DE88-DF36-170341552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80E2-019B-4A84-A2CC-616DEB9D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849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1D66C-5D86-AD97-F31E-BEE397505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4753FE-AA7B-1862-B9F1-DF7BD62D9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2CA2-A16C-40CE-8559-63AA9345F6E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47350-A651-CE39-4542-947BDBDFF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00A2D-59CC-CFD2-456B-711B58A3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80E2-019B-4A84-A2CC-616DEB9D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418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78557B-599A-6FA3-BD63-D4CE6928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2CA2-A16C-40CE-8559-63AA9345F6E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13E4E-4955-E702-C9BD-E5AA76D3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DE4A2-DD99-01ED-D1CF-E01D04AAD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80E2-019B-4A84-A2CC-616DEB9D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15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3D3DE-34DA-AF85-A6B0-FAB97AD22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2E7E7-9937-701F-D4CC-9E6C3B410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022FF-45C0-4240-3F9F-677E927F5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ED48F-3597-16A9-0E9C-FECAC5D4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2CA2-A16C-40CE-8559-63AA9345F6E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DC764-75BB-E305-628C-6B3433B96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91134-6463-1E7C-B283-BA0439CF9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80E2-019B-4A84-A2CC-616DEB9D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676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79C7A-9B6F-DA9E-305F-FD2A1DA7A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CBFFE3-A691-A376-2D0C-9F81C0338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905E6-CBBD-1043-0036-B4FC2D7A3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19BF6-514E-1AB6-0D10-4B41A9D9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2CA2-A16C-40CE-8559-63AA9345F6E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9E7AC-6857-6E48-D09C-4C35E5F51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77655-AAF7-C0C4-FABC-21F70B4EA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80E2-019B-4A84-A2CC-616DEB9D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256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4A53B-8C75-8104-8C27-9AD7CCADB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A85E8-801D-E496-0409-CD1E22574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4035-2997-2A1E-C40A-E704DFD7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2CA2-A16C-40CE-8559-63AA9345F6E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D467C-E791-7C6C-D675-2968A5E4B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EA9E6-A7DC-8344-2907-82F116043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80E2-019B-4A84-A2CC-616DEB9D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70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9E130B-D93C-67EE-96F8-92F00B7190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A0B44-5D32-5CF8-68A2-2D384710C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87341-062B-7BC0-D63B-4DE7A955B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2CA2-A16C-40CE-8559-63AA9345F6E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40E5C-1405-0075-3AD2-4F3A85E96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C0CEF-C43B-D8C4-2A0B-359B6B730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80E2-019B-4A84-A2CC-616DEB9D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968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44BE09-CAF8-0FA5-24DD-23E6AAFD6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187EC-2D20-B01F-5164-0F1FC4BF7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5CC06-375E-7A53-A402-30176BC00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12CA2-A16C-40CE-8559-63AA9345F6E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AC63C-4B02-7958-E22E-BB157C391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93AAB-4D89-7C9B-56E2-F4F46B03C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680E2-019B-4A84-A2CC-616DEB9DE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44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ADA2-7EBE-108B-0DD1-F49425AB2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13359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Marketing Campaign ROI Analysis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D9F1D-BA95-5F5C-DBD2-65DB10FBD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77556" y="3255962"/>
            <a:ext cx="9144000" cy="1096107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By Ujjawal Chaudhary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950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FCCDA-61C3-5DFF-82E1-A87838847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6DBCA-1B5A-9F2D-E34D-9A7EAAB8E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6478"/>
            <a:ext cx="5014128" cy="776775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chemeClr val="accent5">
                    <a:lumMod val="50000"/>
                  </a:schemeClr>
                </a:solidFill>
              </a:rPr>
              <a:t>Introduction</a:t>
            </a:r>
            <a:endParaRPr lang="en-IN" sz="4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1043D-3B87-9D78-575F-4917DD639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3161" y="1979821"/>
            <a:ext cx="8542180" cy="1795766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 am a data analyst at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GlowUp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a beauty and skincare startup that recently ran multiple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online and offline marketing campaigns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 The company spent a significant budget on social media ads, influencer collaborations, and local events. Management wants to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understand which campaigns delivered the best return on investment (ROI)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and how to allocate marketing budgets efficiently in the future.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86996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88EE3-B165-28D5-7288-C39978F9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EE4E-2F28-0F02-7787-55BA7185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43095" y="-401933"/>
            <a:ext cx="7037196" cy="1407065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chemeClr val="accent5">
                    <a:lumMod val="50000"/>
                  </a:schemeClr>
                </a:solidFill>
              </a:rPr>
              <a:t>Dataset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2DBBF0-E41E-AFE7-2423-2FDC38FD7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515" y="7194619"/>
            <a:ext cx="7288404" cy="211015"/>
          </a:xfrm>
        </p:spPr>
        <p:txBody>
          <a:bodyPr>
            <a:normAutofit fontScale="40000" lnSpcReduction="20000"/>
          </a:bodyPr>
          <a:lstStyle/>
          <a:p>
            <a:endParaRPr lang="en-IN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956242-B165-DDF7-2C3C-2B77A3B2F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515" y="1500830"/>
            <a:ext cx="7575589" cy="372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862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96481-55D5-317E-F00D-DAE00BA55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76151-BA45-3FA4-473A-E743DBFC7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61740" y="0"/>
            <a:ext cx="6936712" cy="101518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5">
                    <a:lumMod val="50000"/>
                  </a:schemeClr>
                </a:solidFill>
              </a:rPr>
              <a:t>Glimpse of Dashboard</a:t>
            </a:r>
            <a:endParaRPr lang="en-IN" sz="4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6CD73-E088-6C5A-595D-1C8491DA6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2619271" y="3892061"/>
            <a:ext cx="6785987" cy="157425"/>
          </a:xfrm>
        </p:spPr>
        <p:txBody>
          <a:bodyPr>
            <a:normAutofit fontScale="25000" lnSpcReduction="20000"/>
          </a:bodyPr>
          <a:lstStyle/>
          <a:p>
            <a:endParaRPr lang="en-IN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2D94C-EC82-1260-D545-5746AAAAE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199"/>
            <a:ext cx="12192000" cy="562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40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CCAFC1-B1BD-4AC9-5BFE-8B9E30FE9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35630-05F8-2A4D-D007-DC32AB3AD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94968" y="-109719"/>
            <a:ext cx="5868237" cy="884551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>
                    <a:lumMod val="50000"/>
                  </a:schemeClr>
                </a:solidFill>
              </a:rPr>
              <a:t>Campaign Spend</a:t>
            </a:r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5C1BD-E02B-7A56-50E6-ABF9DF19B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322" y="4286864"/>
            <a:ext cx="12093678" cy="235974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Key Observations &amp; Recommendations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Brand Awareness Drive</a:t>
            </a:r>
            <a:r>
              <a:rPr lang="en-US" sz="2000" dirty="0"/>
              <a:t> and </a:t>
            </a:r>
            <a:r>
              <a:rPr lang="en-US" sz="2000" b="1" dirty="0"/>
              <a:t>New Product Launch</a:t>
            </a:r>
            <a:r>
              <a:rPr lang="en-US" sz="2000" dirty="0"/>
              <a:t> received the highest campaign spend, indicating stronger budget allocation toward awareness-focused marketing campaigns.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Flash Sale Campaign</a:t>
            </a:r>
            <a:r>
              <a:rPr lang="en-US" sz="2000" dirty="0"/>
              <a:t> and </a:t>
            </a:r>
            <a:r>
              <a:rPr lang="en-US" sz="2000" b="1" dirty="0"/>
              <a:t>Email Re-engagement</a:t>
            </a:r>
            <a:r>
              <a:rPr lang="en-US" sz="2000" dirty="0"/>
              <a:t> received comparatively lower spending, showing lower investment priority among campaigns.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Evaluate whether high-spend campaigns are generating proportional ROI and conversions before increasing future budget allocation.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Consider increasing investment in lower-spend campaigns if they demonstrate strong ROI or conversion efficiency.</a:t>
            </a:r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  <a:p>
            <a:pPr algn="l"/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BA9387-0928-CD3B-AFD9-AF6A16D7B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21" y="937865"/>
            <a:ext cx="7763958" cy="32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519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BAFFF-525D-F8C3-6492-05382FDAC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0A9CD-FD64-CC9D-755B-B07C80F92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16078" y="933889"/>
            <a:ext cx="7629832" cy="442276"/>
          </a:xfrm>
        </p:spPr>
        <p:txBody>
          <a:bodyPr>
            <a:noAutofit/>
          </a:bodyPr>
          <a:lstStyle/>
          <a:p>
            <a:r>
              <a:rPr lang="en-IN" sz="4400" b="1" dirty="0">
                <a:solidFill>
                  <a:schemeClr val="accent1">
                    <a:lumMod val="50000"/>
                  </a:schemeClr>
                </a:solidFill>
              </a:rPr>
              <a:t>Revenue Generated</a:t>
            </a:r>
            <a:br>
              <a:rPr lang="en-IN" sz="4400" dirty="0">
                <a:solidFill>
                  <a:schemeClr val="accent1">
                    <a:lumMod val="50000"/>
                  </a:schemeClr>
                </a:solidFill>
              </a:rPr>
            </a:br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303C9-2650-1934-656F-C3DF2CFDB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322" y="4286864"/>
            <a:ext cx="12093678" cy="235974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Key Observations &amp; Recommendations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Influencer Buzz</a:t>
            </a:r>
            <a:r>
              <a:rPr lang="en-US" sz="2000" dirty="0"/>
              <a:t> generated the highest revenue (~155M), making it the top-performing campaign in terms of sales generation.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Social Media Hype</a:t>
            </a:r>
            <a:r>
              <a:rPr lang="en-US" sz="2000" dirty="0"/>
              <a:t> and </a:t>
            </a:r>
            <a:r>
              <a:rPr lang="en-US" sz="2000" b="1" dirty="0"/>
              <a:t>Mega Discount Drive</a:t>
            </a:r>
            <a:r>
              <a:rPr lang="en-US" sz="2000" dirty="0"/>
              <a:t> generated comparatively lower revenue among all campaigns.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Increase investment in high-revenue campaigns like Influencer Buzz and Customer Retention Program to maximize future returns.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Re-evaluate low-revenue campaigns by improving campaign strategy, targeting, and promotional offers. </a:t>
            </a:r>
          </a:p>
          <a:p>
            <a:pPr algn="l"/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  <a:p>
            <a:pPr algn="l"/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A4BA00-05AF-0504-E843-8D3014DD6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51" y="819835"/>
            <a:ext cx="8754697" cy="316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290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5FB7DE-102A-247F-114C-7B2F6BF22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24D65-2E67-B311-FBEB-E2D7043DC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310" y="0"/>
            <a:ext cx="8731045" cy="1347019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>
                    <a:lumMod val="50000"/>
                  </a:schemeClr>
                </a:solidFill>
              </a:rPr>
              <a:t>ROI (%)</a:t>
            </a:r>
            <a:r>
              <a:rPr lang="en-IN" sz="4400" dirty="0">
                <a:solidFill>
                  <a:schemeClr val="accent1">
                    <a:lumMod val="50000"/>
                  </a:schemeClr>
                </a:solidFill>
              </a:rPr>
              <a:t>:</a:t>
            </a:r>
            <a:r>
              <a:rPr lang="en-IN" sz="3600" dirty="0">
                <a:solidFill>
                  <a:schemeClr val="accent1">
                    <a:lumMod val="50000"/>
                  </a:schemeClr>
                </a:solidFill>
              </a:rPr>
              <a:t> (Revenue – Spend) / Spend × 100)</a:t>
            </a:r>
            <a:br>
              <a:rPr lang="en-IN" sz="3600" dirty="0">
                <a:solidFill>
                  <a:schemeClr val="accent1">
                    <a:lumMod val="50000"/>
                  </a:schemeClr>
                </a:solidFill>
              </a:rPr>
            </a:br>
            <a:endParaRPr lang="en-IN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CF0D4-964D-214B-7C40-D72062525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484" y="4385187"/>
            <a:ext cx="11189110" cy="2359742"/>
          </a:xfrm>
        </p:spPr>
        <p:txBody>
          <a:bodyPr/>
          <a:lstStyle/>
          <a:p>
            <a:pPr algn="l"/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Key Observations &amp; Recommendations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Influencer Buzz</a:t>
            </a:r>
            <a:r>
              <a:rPr lang="en-US" sz="2000" dirty="0"/>
              <a:t> generated the highest ROI (~1390%), making it the best-performing campaign.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Summer Sale</a:t>
            </a:r>
            <a:r>
              <a:rPr lang="en-US" sz="2000" dirty="0"/>
              <a:t> delivered the lowest ROI among all campaigns, despite marketing investment.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Increase future budget allocation toward high-performing campaigns like Influencer Buzz and Festive Bonanza.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Rework low-ROI campaigns by improving targeting, offer strategy, or campaign timing.</a:t>
            </a:r>
          </a:p>
          <a:p>
            <a:pPr algn="l"/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  <a:p>
            <a:pPr algn="l"/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629276-80EC-7085-7149-D0C9BBAC4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047" y="1110849"/>
            <a:ext cx="6234418" cy="31929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011BC4-9E05-1231-3DED-B91F27802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187" y="1869136"/>
            <a:ext cx="2621440" cy="155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475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B6FD3-B5EF-6F9C-676F-D19870A82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71294-75C3-BE1D-D937-C70D6FAC3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6142" y="-141835"/>
            <a:ext cx="5781368" cy="1616674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chemeClr val="accent5">
                    <a:lumMod val="50000"/>
                  </a:schemeClr>
                </a:solidFill>
              </a:rPr>
              <a:t>Conversions &amp; CPA</a:t>
            </a:r>
            <a:br>
              <a:rPr lang="en-IN" sz="4800" dirty="0"/>
            </a:br>
            <a:endParaRPr lang="en-IN" sz="4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6DBAA-1E30-2ED0-104F-7950E0F5F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87" y="4611329"/>
            <a:ext cx="11189110" cy="2359742"/>
          </a:xfrm>
        </p:spPr>
        <p:txBody>
          <a:bodyPr/>
          <a:lstStyle/>
          <a:p>
            <a:pPr algn="l"/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Key Observations &amp; Recommendations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Social Media</a:t>
            </a:r>
            <a:r>
              <a:rPr lang="en-US" sz="2000" dirty="0"/>
              <a:t> generated the highest number of leads and conversions compared to other channels.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The overall CPA remained relatively low, indicating cost-efficient customer acquisition performance.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Prioritize high-conversion channels like Social Media and Influencer Marketing.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Continuously monitor CPA to maintain acquisition efficiency while scaling campaigns.</a:t>
            </a:r>
          </a:p>
          <a:p>
            <a:pPr algn="l"/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  <a:p>
            <a:pPr algn="l"/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E4E2D6-BF1F-4104-4C6E-CF3A0C154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62" y="942211"/>
            <a:ext cx="5653548" cy="34885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BDC4D7-B1D3-ECC1-57A6-E39CFEF6A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575" y="1878169"/>
            <a:ext cx="2126036" cy="161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108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2EB55C-61EB-4DEA-6FC5-CE9F2F5D6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36DE1-80EC-8622-67B3-66A50AD6A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0320"/>
            <a:ext cx="6351640" cy="1095357"/>
          </a:xfrm>
        </p:spPr>
        <p:txBody>
          <a:bodyPr>
            <a:noAutofit/>
          </a:bodyPr>
          <a:lstStyle/>
          <a:p>
            <a:r>
              <a:rPr lang="en-IN" sz="4800" b="1" dirty="0">
                <a:solidFill>
                  <a:schemeClr val="accent1">
                    <a:lumMod val="50000"/>
                  </a:schemeClr>
                </a:solidFill>
              </a:rPr>
              <a:t>Engagement Metrics</a:t>
            </a:r>
            <a:br>
              <a:rPr lang="en-IN" sz="4800" dirty="0">
                <a:solidFill>
                  <a:schemeClr val="accent1">
                    <a:lumMod val="50000"/>
                  </a:schemeClr>
                </a:solidFill>
              </a:rPr>
            </a:br>
            <a:endParaRPr lang="en-IN" sz="4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ADEEE-8A99-CE0C-08A4-CE9CA963F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86" y="4257368"/>
            <a:ext cx="12074013" cy="271370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Key Observations &amp; Recommendations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Social Media</a:t>
            </a:r>
            <a:r>
              <a:rPr lang="en-US" sz="2000" dirty="0"/>
              <a:t> generated the highest impressions, clicks, likes, and shares among all channels, indicating the strongest audience engagement.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Event marketing</a:t>
            </a:r>
            <a:r>
              <a:rPr lang="en-US" sz="2000" dirty="0"/>
              <a:t> showed the lowest engagement performance across all engagement metrics compared to digital </a:t>
            </a:r>
            <a:r>
              <a:rPr lang="en-US" sz="2000" dirty="0" err="1"/>
              <a:t>channels.Prioritize</a:t>
            </a:r>
            <a:r>
              <a:rPr lang="en-US" sz="2000" dirty="0"/>
              <a:t> high-conversion channels like Social Media and Influencer Marketing.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Increase focus on high-engagement channels like Social Media and Influencer Marketing to maximize audience reach and interaction.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Improve engagement strategies for lower-performing channels by using better content, targeting, and promotional campaigns.</a:t>
            </a:r>
          </a:p>
          <a:p>
            <a:pPr algn="l"/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  <a:p>
            <a:pPr algn="l"/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96725-B743-77DA-3751-D82D36D68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730" y="819005"/>
            <a:ext cx="7061976" cy="322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958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F666B-764D-FA4D-D563-9FD401FFE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09" y="88491"/>
            <a:ext cx="7411065" cy="804914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rgbClr val="00B050"/>
                </a:solidFill>
              </a:rPr>
              <a:t>Strategic Recommendation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DBE7F-5AF2-6F07-E463-3278843CD4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5303" y="1582993"/>
            <a:ext cx="5528185" cy="459396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Quick Wins</a:t>
            </a:r>
          </a:p>
          <a:p>
            <a:pPr marL="0" indent="0" algn="ctr">
              <a:buNone/>
            </a:pPr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Reallocate more budget toward high-ROI campaigns like Influencer Buzz and Festive Bonanza to maximize immediate revenue growth.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Optimize low-performing campaigns such as Summer Sale and Mega Discount Drive through better audience targeting and offer strategy.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Increase focus on high-engagement digital channels like Social Media and Influencer Marketing to improve conversions at lower CPA.</a:t>
            </a:r>
            <a:endParaRPr lang="en-IN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CE633-6B85-A776-35FA-FC4653B21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582993"/>
            <a:ext cx="5528185" cy="459396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 Long-Term Strategies</a:t>
            </a:r>
          </a:p>
          <a:p>
            <a:pPr marL="0" indent="0" algn="ctr">
              <a:buNone/>
            </a:pPr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Build a data-driven marketing allocation model based on ROI, CPA, and conversion trends for smarter future budgeting.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Strengthen customer retention and loyalty campaigns to improve repeat purchases and long-term customer lifetime value.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Invest in personalized and AI-driven campaign targeting to enhance engagement, conversion efficiency, and overall marketing performance.</a:t>
            </a:r>
            <a:endParaRPr lang="en-IN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7988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7C0EC-6BCE-E7C4-DFF6-E5614B6C1D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9600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Thank You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6E55B-6034-EBC3-66AF-77FDE3B8A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777316" cy="527510"/>
          </a:xfrm>
        </p:spPr>
        <p:txBody>
          <a:bodyPr/>
          <a:lstStyle/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Prepared by: Ujjawal Chaudhary</a:t>
            </a:r>
          </a:p>
        </p:txBody>
      </p:sp>
    </p:spTree>
    <p:extLst>
      <p:ext uri="{BB962C8B-B14F-4D97-AF65-F5344CB8AC3E}">
        <p14:creationId xmlns:p14="http://schemas.microsoft.com/office/powerpoint/2010/main" val="3889474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</TotalTime>
  <Words>584</Words>
  <Application>Microsoft Office PowerPoint</Application>
  <PresentationFormat>Widescreen</PresentationFormat>
  <Paragraphs>54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Rounded MT Bold</vt:lpstr>
      <vt:lpstr>Calibri</vt:lpstr>
      <vt:lpstr>Calibri Light</vt:lpstr>
      <vt:lpstr>Wingdings</vt:lpstr>
      <vt:lpstr>Office Theme</vt:lpstr>
      <vt:lpstr>Marketing Campaign ROI Analysis</vt:lpstr>
      <vt:lpstr>Introduction</vt:lpstr>
      <vt:lpstr>Dataset Overview</vt:lpstr>
      <vt:lpstr>Glimpse of Dashboard</vt:lpstr>
      <vt:lpstr>Campaign Spend</vt:lpstr>
      <vt:lpstr>Revenue Generated </vt:lpstr>
      <vt:lpstr>ROI (%): (Revenue – Spend) / Spend × 100) </vt:lpstr>
      <vt:lpstr>Conversions &amp; CPA </vt:lpstr>
      <vt:lpstr>Engagement Metrics </vt:lpstr>
      <vt:lpstr>Strategic Recommendation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Ujjawal chaudhary</dc:creator>
  <cp:lastModifiedBy>Ujjawal chaudhary</cp:lastModifiedBy>
  <cp:revision>42</cp:revision>
  <dcterms:created xsi:type="dcterms:W3CDTF">2026-05-11T04:42:36Z</dcterms:created>
  <dcterms:modified xsi:type="dcterms:W3CDTF">2026-05-15T01:34:13Z</dcterms:modified>
</cp:coreProperties>
</file>